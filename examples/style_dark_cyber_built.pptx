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Stars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Sheet1!$A$2:$A$7</c:f>
              <c:strCache>
                <c:ptCount val="6"/>
                <c:pt idx="0">
                  <c:v>MetaGPT</c:v>
                </c:pt>
                <c:pt idx="1">
                  <c:v>AutoGen</c:v>
                </c:pt>
                <c:pt idx="2">
                  <c:v>CrewAI</c:v>
                </c:pt>
                <c:pt idx="3">
                  <c:v>LangGraph</c:v>
                </c:pt>
                <c:pt idx="4">
                  <c:v>OpenAI</c:v>
                </c:pt>
                <c:pt idx="5">
                  <c:v>12-Factor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69000</c:v>
                </c:pt>
                <c:pt idx="1">
                  <c:v>38000</c:v>
                </c:pt>
                <c:pt idx="2">
                  <c:v>26000</c:v>
                </c:pt>
                <c:pt idx="3">
                  <c:v>22000</c:v>
                </c:pt>
                <c:pt idx="4">
                  <c:v>27000</c:v>
                </c:pt>
                <c:pt idx="5">
                  <c:v>24000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" y="2194560"/>
            <a:ext cx="121916" cy="2468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33" y="2194560"/>
            <a:ext cx="9753356" cy="213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/>
            </a:pPr>
            <a:r>
              <a:rPr sz="5200" b="1">
                <a:solidFill>
                  <a:srgbClr val="FFFFFF"/>
                </a:solidFill>
                <a:latin typeface="Microsoft YaHei"/>
              </a:rPr>
              <a:t>Agent Architecture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377539"/>
            <a:ext cx="97533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/>
            </a:pPr>
            <a:r>
              <a:rPr sz="3200" b="0">
                <a:solidFill>
                  <a:srgbClr val="FFFFFF"/>
                </a:solidFill>
                <a:latin typeface="Microsoft YaHei"/>
              </a:rPr>
              <a:t>Inside the Multi-Agent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5200499"/>
            <a:ext cx="4876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tle_content"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01" y="459486"/>
            <a:ext cx="10484857" cy="733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/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The Agent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41" y="1097280"/>
            <a:ext cx="3457194" cy="4800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1371600"/>
            <a:ext cx="10484857" cy="53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/>
            </a:pPr>
            <a:r>
              <a:rPr sz="4200">
                <a:solidFill>
                  <a:srgbClr val="FFFFFF"/>
                </a:solidFill>
                <a:latin typeface="Microsoft YaHei"/>
              </a:rPr>
              <a:t>• OBSERVE → Perceive environment state</a:t>
            </a:r>
            <a:r>
              <a:rPr sz="4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defRPr sz="4200"/>
            </a:pPr>
            <a:r>
              <a:rPr sz="4200">
                <a:solidFill>
                  <a:srgbClr val="FFFFFF"/>
                </a:solidFill>
                <a:latin typeface="Microsoft YaHei"/>
              </a:rPr>
              <a:t>• REASON → LLM generates thought process</a:t>
            </a:r>
            <a:r>
              <a:rPr sz="4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defRPr sz="4200"/>
            </a:pPr>
            <a:r>
              <a:rPr sz="4200">
                <a:solidFill>
                  <a:srgbClr val="FFFFFF"/>
                </a:solidFill>
                <a:latin typeface="Microsoft YaHei"/>
              </a:rPr>
              <a:t>• ACT → Execute tool or return response</a:t>
            </a:r>
            <a:r>
              <a:rPr sz="4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defRPr sz="4200"/>
            </a:pPr>
            <a:r>
              <a:rPr sz="4200">
                <a:solidFill>
                  <a:srgbClr val="FFFFFF"/>
                </a:solidFill>
                <a:latin typeface="Microsoft YaHei"/>
              </a:rPr>
              <a:t>• LEARN → Update memory from feedback</a:t>
            </a:r>
            <a:r>
              <a:rPr sz="42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hart"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rPr sz="3600">
                <a:solidFill>
                  <a:srgbClr val="FFFFFF"/>
                </a:solidFill>
                <a:latin typeface="Microsoft YaHei"/>
              </a:rPr>
              <a:t>Framework Popularity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4923282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 sz="3200">
                <a:solidFill>
                  <a:srgbClr val="FFFFFF"/>
                </a:solidFill>
                <a:latin typeface="Microsoft YaHei"/>
              </a:rPr>
              <a:t>GitHub Stars growth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94560"/>
          <a:ext cx="10515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mage_content"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rPr sz="3600">
                <a:solidFill>
                  <a:srgbClr val="FFFFFF"/>
                </a:solidFill>
                <a:latin typeface="Microsoft YaHei"/>
              </a:rPr>
              <a:t>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4695444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F2937"/>
                </a:solidFill>
                <a:latin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</a:rPr>
              <a:t>• Orchestrator: Central controller dispatches tasks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</a:rPr>
              <a:t>• Worker Pool: Specialized agents execute sub-tasks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</a:rPr>
              <a:t>• Memory Store: Shared context + episodic memory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</a:rPr>
              <a:t>• Tool Registry: External APIs + custom functions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</a:rPr>
              <a:t>• State Graph: LangGraph manages execution flow</a:t>
            </a:r>
          </a:p>
        </p:txBody>
      </p:sp>
      <p:pic>
        <p:nvPicPr>
          <p:cNvPr id="7" name="Picture 6" descr="auto_img_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13502"/>
            <a:ext cx="5029200" cy="2871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able"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rPr sz="3600">
                <a:solidFill>
                  <a:srgbClr val="FFFFFF"/>
                </a:solidFill>
                <a:latin typeface="Microsoft YaHei"/>
              </a:rPr>
              <a:t>Performance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5735574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 sz="3200">
                <a:solidFill>
                  <a:srgbClr val="FFFFFF"/>
                </a:solidFill>
                <a:latin typeface="Microsoft YaHei"/>
              </a:rPr>
              <a:t>Latency vs accuracy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746"/>
                <a:gridCol w="2251978"/>
                <a:gridCol w="2467363"/>
                <a:gridCol w="3113513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2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2600">
                          <a:latin typeface="Microsoft YaHei"/>
                        </a:rPr>
                        <a:t>Framework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2600">
                          <a:latin typeface="Microsoft YaHei"/>
                        </a:rPr>
                        <a:t>Latency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2600">
                          <a:latin typeface="Microsoft YaHei"/>
                        </a:rPr>
                        <a:t>Accuracy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2600">
                          <a:latin typeface="Microsoft YaHei"/>
                        </a:rPr>
                        <a:t>Scalability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MetaGPT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92%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High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CrewAI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High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OpenAI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86%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rPr sz="2200">
                          <a:latin typeface="Microsoft YaHei"/>
                        </a:rPr>
                        <a:t>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ta_highlight"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09584" y="34290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100"/>
            </a:pPr>
            <a:r>
              <a:rPr sz="4100" b="1">
                <a:solidFill>
                  <a:srgbClr val="FFFFFF"/>
                </a:solidFill>
                <a:latin typeface="Microsoft YaHei"/>
              </a:rPr>
              <a:t>Production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01024" y="1245860"/>
            <a:ext cx="5527548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20574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sz="8000" b="1">
                <a:solidFill>
                  <a:srgbClr val="0EA5E9"/>
                </a:solidFill>
                <a:latin typeface="Microsoft YaHei"/>
              </a:rPr>
              <a:t>3x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425196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/>
            </a:pPr>
            <a:r>
              <a:rPr sz="2400" b="0">
                <a:solidFill>
                  <a:srgbClr val="FFFFFF"/>
                </a:solidFill>
                <a:latin typeface="Microsoft YaHei"/>
              </a:rPr>
              <a:t>Faster iteration with agent frameworks vs hand-built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quot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2057400"/>
            <a:ext cx="9753356" cy="229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Agents are not the future. They are the present, and they are already eating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4553419"/>
            <a:ext cx="97533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— swyx,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losing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400300"/>
            <a:ext cx="1097252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/>
            </a:pPr>
            <a:r>
              <a:rPr sz="6400" b="1">
                <a:solidFill>
                  <a:srgbClr val="FFFFFF"/>
                </a:solidFill>
                <a:latin typeface="Microsoft YaHei"/>
              </a:rPr>
              <a:t>Build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3909060"/>
            <a:ext cx="1097252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rPr sz="2800" b="0">
                <a:solidFill>
                  <a:srgbClr val="FFFFFF"/>
                </a:solidFill>
                <a:latin typeface="Microsoft YaHei"/>
              </a:rPr>
              <a:t>Agents are the new abstraction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